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Helvetica Neue" panose="020B0604020202020204" charset="0"/>
      <p:regular r:id="rId14"/>
      <p:bold r:id="rId15"/>
      <p:italic r:id="rId16"/>
      <p:boldItalic r:id="rId17"/>
    </p:embeddedFont>
    <p:embeddedFont>
      <p:font typeface="Roboto Mono" panose="00000009000000000000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Hackathon – Round 1 PPT Submission Guidelines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Purpose of Round 1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Round 1 is designed to evaluate: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Clarity of the problem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Intent behind choosing the problem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Soundness of the proposed approach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Feasibility of the idea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This round is </a:t>
            </a:r>
            <a:r>
              <a:rPr lang="en-GB" sz="1200" b="1">
                <a:solidFill>
                  <a:schemeClr val="dk1"/>
                </a:solidFill>
              </a:rPr>
              <a:t>not about building a complete product</a:t>
            </a:r>
            <a:r>
              <a:rPr lang="en-GB" sz="1200">
                <a:solidFill>
                  <a:schemeClr val="dk1"/>
                </a:solidFill>
              </a:rPr>
              <a:t>. It is about how well you </a:t>
            </a:r>
            <a:r>
              <a:rPr lang="en-GB" sz="1200" b="1">
                <a:solidFill>
                  <a:schemeClr val="dk1"/>
                </a:solidFill>
              </a:rPr>
              <a:t>think, structure, and communicate</a:t>
            </a:r>
            <a:r>
              <a:rPr lang="en-GB" sz="1200">
                <a:solidFill>
                  <a:schemeClr val="dk1"/>
                </a:solidFill>
              </a:rPr>
              <a:t> your idea.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Who Should Submit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The </a:t>
            </a:r>
            <a:r>
              <a:rPr lang="en-GB" sz="1200" b="1">
                <a:solidFill>
                  <a:schemeClr val="dk1"/>
                </a:solidFill>
              </a:rPr>
              <a:t>Team Leader</a:t>
            </a:r>
            <a:r>
              <a:rPr lang="en-GB" sz="1200">
                <a:solidFill>
                  <a:schemeClr val="dk1"/>
                </a:solidFill>
              </a:rPr>
              <a:t> is responsible for: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Filling the template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Ensuring accuracy and clarity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Submitting the final PPT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Submission Format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b="1">
                <a:solidFill>
                  <a:schemeClr val="dk1"/>
                </a:solidFill>
              </a:rPr>
              <a:t>Format:</a:t>
            </a:r>
            <a:r>
              <a:rPr lang="en-GB" sz="1200">
                <a:solidFill>
                  <a:schemeClr val="dk1"/>
                </a:solidFill>
              </a:rPr>
              <a:t> PDF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b="1">
                <a:solidFill>
                  <a:schemeClr val="dk1"/>
                </a:solidFill>
              </a:rPr>
              <a:t>Total Slides:</a:t>
            </a:r>
            <a:r>
              <a:rPr lang="en-GB" sz="1200">
                <a:solidFill>
                  <a:schemeClr val="dk1"/>
                </a:solidFill>
              </a:rPr>
              <a:t> 8–10 slides (strict)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b="1">
                <a:solidFill>
                  <a:schemeClr val="dk1"/>
                </a:solidFill>
              </a:rPr>
              <a:t>Language:</a:t>
            </a:r>
            <a:r>
              <a:rPr lang="en-GB" sz="1200">
                <a:solidFill>
                  <a:schemeClr val="dk1"/>
                </a:solidFill>
              </a:rPr>
              <a:t> English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b="1">
                <a:solidFill>
                  <a:schemeClr val="dk1"/>
                </a:solidFill>
              </a:rPr>
              <a:t>Orientation:</a:t>
            </a:r>
            <a:r>
              <a:rPr lang="en-GB" sz="1200">
                <a:solidFill>
                  <a:schemeClr val="dk1"/>
                </a:solidFill>
              </a:rPr>
              <a:t> Any (keep it consistent)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b="1">
                <a:solidFill>
                  <a:schemeClr val="dk1"/>
                </a:solidFill>
              </a:rPr>
              <a:t>File Name Format:</a:t>
            </a:r>
            <a:br>
              <a:rPr lang="en-GB" sz="1200" b="1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</a:t>
            </a: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TeamName_LeaderName_Round1_PPT</a:t>
            </a:r>
            <a:b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What Judges Are Looking For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Judges will primarily evaluate: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How clearly the </a:t>
            </a:r>
            <a:r>
              <a:rPr lang="en-GB" sz="1200" b="1">
                <a:solidFill>
                  <a:schemeClr val="dk1"/>
                </a:solidFill>
              </a:rPr>
              <a:t>problem is defined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Whether your understanding of  </a:t>
            </a:r>
            <a:r>
              <a:rPr lang="en-GB" sz="1200" b="1">
                <a:solidFill>
                  <a:schemeClr val="dk1"/>
                </a:solidFill>
              </a:rPr>
              <a:t>problem is real and relevant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Logical </a:t>
            </a:r>
            <a:r>
              <a:rPr lang="en-GB" sz="1200" b="1">
                <a:solidFill>
                  <a:schemeClr val="dk1"/>
                </a:solidFill>
              </a:rPr>
              <a:t>flow of thinking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Simplicity and feasibility of the </a:t>
            </a:r>
            <a:r>
              <a:rPr lang="en-GB" sz="1200" b="1">
                <a:solidFill>
                  <a:schemeClr val="dk1"/>
                </a:solidFill>
              </a:rPr>
              <a:t>solution approach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Ability to explain the idea </a:t>
            </a:r>
            <a:r>
              <a:rPr lang="en-GB" sz="1200" b="1">
                <a:solidFill>
                  <a:schemeClr val="dk1"/>
                </a:solidFill>
              </a:rPr>
              <a:t>without heavy technical depth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Focus on </a:t>
            </a:r>
            <a:r>
              <a:rPr lang="en-GB" sz="1200" b="1">
                <a:solidFill>
                  <a:schemeClr val="dk1"/>
                </a:solidFill>
              </a:rPr>
              <a:t>why</a:t>
            </a:r>
            <a:r>
              <a:rPr lang="en-GB" sz="1200">
                <a:solidFill>
                  <a:schemeClr val="dk1"/>
                </a:solidFill>
              </a:rPr>
              <a:t>, </a:t>
            </a:r>
            <a:r>
              <a:rPr lang="en-GB" sz="1200" b="1">
                <a:solidFill>
                  <a:schemeClr val="dk1"/>
                </a:solidFill>
              </a:rPr>
              <a:t>what</a:t>
            </a:r>
            <a:r>
              <a:rPr lang="en-GB" sz="1200">
                <a:solidFill>
                  <a:schemeClr val="dk1"/>
                </a:solidFill>
              </a:rPr>
              <a:t>, and </a:t>
            </a:r>
            <a:r>
              <a:rPr lang="en-GB" sz="1200" b="1">
                <a:solidFill>
                  <a:schemeClr val="dk1"/>
                </a:solidFill>
              </a:rPr>
              <a:t>how (at a high level)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What Judges Will Look For (Regarding Mutation)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Judges will evaluate: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Whether you identified what could break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Whether your solution responds logically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Whether trade-offs are clear and reasonable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Whether the design supports change without collapse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Content Guidelines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Each slide should convey </a:t>
            </a:r>
            <a:r>
              <a:rPr lang="en-GB" sz="1200" b="1">
                <a:solidFill>
                  <a:schemeClr val="dk1"/>
                </a:solidFill>
              </a:rPr>
              <a:t>one clear idea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Use </a:t>
            </a:r>
            <a:r>
              <a:rPr lang="en-GB" sz="1200" b="1">
                <a:solidFill>
                  <a:schemeClr val="dk1"/>
                </a:solidFill>
              </a:rPr>
              <a:t>short bullet points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Avoid jargon unless absolutely necessary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Prefer clarity over sophistication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Submission Checklist (Mandatory)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Before submitting, ensure that: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The </a:t>
            </a:r>
            <a:r>
              <a:rPr lang="en-GB" sz="1200" b="1">
                <a:solidFill>
                  <a:schemeClr val="dk1"/>
                </a:solidFill>
              </a:rPr>
              <a:t>problem is understandable in one read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Slides are </a:t>
            </a:r>
            <a:r>
              <a:rPr lang="en-GB" sz="1200" b="1">
                <a:solidFill>
                  <a:schemeClr val="dk1"/>
                </a:solidFill>
              </a:rPr>
              <a:t>not overcrowded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Language is </a:t>
            </a:r>
            <a:r>
              <a:rPr lang="en-GB" sz="1200" b="1">
                <a:solidFill>
                  <a:schemeClr val="dk1"/>
                </a:solidFill>
              </a:rPr>
              <a:t>simple, direct, and concise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The story flows logically:</a:t>
            </a:r>
            <a:br>
              <a:rPr lang="en-GB" sz="1200">
                <a:solidFill>
                  <a:schemeClr val="dk1"/>
                </a:solidFill>
              </a:rPr>
            </a:br>
            <a:br>
              <a:rPr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</a:t>
            </a:r>
            <a:r>
              <a:rPr lang="en-GB" sz="1200" b="1">
                <a:solidFill>
                  <a:schemeClr val="dk1"/>
                </a:solidFill>
              </a:rPr>
              <a:t>Problem → Current Situation → Proposed Solution → Expected Impact</a:t>
            </a:r>
            <a:br>
              <a:rPr lang="en-GB" sz="1200" b="1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Submissions not following these guidelines may be </a:t>
            </a:r>
            <a:r>
              <a:rPr lang="en-GB" sz="1200" b="1">
                <a:solidFill>
                  <a:schemeClr val="dk1"/>
                </a:solidFill>
              </a:rPr>
              <a:t>penalized or rejected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c35bf51a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c35bf51a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c35bf51a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c35bf51a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c35bf51a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c35bf51a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c35bf51a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c35bf51a5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c35bf51a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c35bf51a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c35bf51a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c35bf51a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c35bf51a5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c35bf51a5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c35bf51a5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c35bf51a5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c35bf51a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c35bf51a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c35bf51a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c35bf51a5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39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9713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CodeRed</a:t>
            </a:r>
            <a:endParaRPr sz="36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555800" y="3355725"/>
            <a:ext cx="6032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2475" i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4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7" name="Google Shape;57;p13" title="Attendee Tee front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7663" y="1246653"/>
            <a:ext cx="5248666" cy="6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TIT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3386" y="870424"/>
            <a:ext cx="4137225" cy="2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77745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</a:t>
            </a:r>
            <a:r>
              <a:rPr lang="en-GB" sz="3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&amp; Idea Overview</a:t>
            </a:r>
            <a:endParaRPr sz="3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Title: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Team Introduction &amp; Detail</a:t>
            </a: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CodeRed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Parth Lonkar – contact no. 8669959339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Citizen </a:t>
            </a: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Grievence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Routing System with SLA tracking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SevaSarthi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0" indent="-298450"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centeralized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digital platform that automatically routes citizen </a:t>
            </a: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grievences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responsible departments and monitors resolution timelines using SLA tracking.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91500" y="717750"/>
            <a:ext cx="7317900" cy="324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r>
              <a:rPr lang="en-GB" sz="36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</a:t>
            </a:r>
            <a:endParaRPr sz="36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centeralized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platform that resolves several </a:t>
            </a: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grivences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redressals mechanism: Complaints are misrouted or delayed also SLAS wont go unnoticed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problem is faced by Citizens of particular country.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city and Country.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39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This </a:t>
            </a:r>
            <a:r>
              <a:rPr lang="en-GB" sz="3600" b="1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Matters</a:t>
            </a:r>
            <a:endParaRPr sz="3600" b="1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Because it Uplifts the voices of citizen in form of Complaints.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Things gets same as usual.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Citizens might get response to their complaints and gets problem resolved.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</a:t>
            </a:r>
            <a:r>
              <a:rPr lang="en-GB" sz="3600" b="1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Situation</a:t>
            </a:r>
            <a:r>
              <a:rPr lang="en-GB" sz="3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 Existing </a:t>
            </a:r>
            <a:r>
              <a:rPr lang="en-GB" sz="3600" b="1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Solutions</a:t>
            </a:r>
            <a:endParaRPr sz="3600" b="1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handled by human/physical </a:t>
            </a: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grivences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that mostly untracked.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Recent situation has improper conditions for tracking and unnoticed </a:t>
            </a: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grivences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Mutation </a:t>
            </a:r>
            <a:r>
              <a:rPr lang="en-GB" sz="3600" b="1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Readiness</a:t>
            </a:r>
            <a:endParaRPr sz="3600" b="1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key assumption is every citizen might be able to work under the UI of the products/solution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People would not be able to understand the solution of the problem.</a:t>
            </a:r>
            <a:br>
              <a:rPr lang="en-GB" sz="11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would create an impact as a </a:t>
            </a:r>
            <a:r>
              <a:rPr lang="en-GB" sz="11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center</a:t>
            </a:r>
            <a:r>
              <a:rPr lang="en-GB" sz="11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between governments and community so that problem might not get unnoticed and would be tracked without any issue at single platform.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 </a:t>
            </a:r>
            <a:endParaRPr lang="en-US" sz="13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US" sz="1100" i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internet is unavailable → system switches to offline mode / queues actions</a:t>
            </a:r>
            <a:br>
              <a:rPr lang="en-US" sz="1100" i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lang="en-US" sz="1100" i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i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an external API fails → fallback logic / cached data is used</a:t>
            </a:r>
            <a:br>
              <a:rPr lang="en-GB" sz="1100" i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i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i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requirement changes → configurable rules instead of hard-coded logic</a:t>
            </a:r>
            <a:endParaRPr sz="1100" i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Proposed </a:t>
            </a:r>
            <a:r>
              <a:rPr lang="en-GB" sz="3600" b="1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</a:t>
            </a:r>
            <a:endParaRPr sz="3600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2999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might need a regulated </a:t>
            </a: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updation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while working under the unseaming conditions.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Improves communication gap, improvised tracked solution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way it is new and problem solving application.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</a:t>
            </a:r>
            <a:r>
              <a:rPr lang="en-GB" sz="3600" b="1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Breakdown</a:t>
            </a:r>
            <a:endParaRPr sz="3600" b="1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indent="-298450">
              <a:spcBef>
                <a:spcPts val="1200"/>
              </a:spcBef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US" sz="1100" dirty="0"/>
              <a:t>Online </a:t>
            </a:r>
            <a:r>
              <a:rPr lang="en-US" sz="1100" dirty="0">
                <a:latin typeface="Helvetica Neue" panose="020B0604020202020204" charset="0"/>
              </a:rPr>
              <a:t>Grievance</a:t>
            </a:r>
            <a:r>
              <a:rPr lang="en-US" sz="1100" dirty="0"/>
              <a:t> </a:t>
            </a:r>
            <a:r>
              <a:rPr lang="en-US" sz="1100" dirty="0" err="1"/>
              <a:t>Registratio</a:t>
            </a:r>
            <a:r>
              <a:rPr lang="en-US" sz="1100" dirty="0"/>
              <a:t>, Automated Grievance Classification , Intelligent Grievance Routing , </a:t>
            </a:r>
            <a:r>
              <a:rPr lang="en-US" sz="1100" b="1" dirty="0"/>
              <a:t>SLA Definition &amp; Assignment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r>
              <a:rPr lang="en-US" sz="1100" b="1" dirty="0"/>
              <a:t>1. Online Grievance Registration</a:t>
            </a:r>
          </a:p>
          <a:p>
            <a:r>
              <a:rPr lang="en-US" sz="1100" dirty="0"/>
              <a:t>Citizens can easily submit grievances through a web or mobile platform by providing issue details, category, location, and supporting evidence.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/>
              <a:t>2. Automated Grievance Classification</a:t>
            </a:r>
          </a:p>
          <a:p>
            <a:r>
              <a:rPr lang="en-US" sz="1100" dirty="0"/>
              <a:t>The system automatically categorizes grievances based on predefined rules such as issue type, department, and priority.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/>
              <a:t>3. Intelligent Grievance Routing</a:t>
            </a:r>
          </a:p>
          <a:p>
            <a:r>
              <a:rPr lang="en-US" sz="1100" dirty="0"/>
              <a:t>Complaints are routed to the appropriate department or officer automatically, reducing manual intervention and misrouting.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/>
              <a:t>4. SLA Definition &amp; Assignment</a:t>
            </a:r>
          </a:p>
          <a:p>
            <a:r>
              <a:rPr lang="en-US" sz="1100" dirty="0"/>
              <a:t>Each grievance is assigned a Service Level Agreement (SLA) based on severity and department policies to ensure time-bound resolution.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US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Citizens uses this applications</a:t>
            </a: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Users &amp; </a:t>
            </a:r>
            <a:r>
              <a:rPr lang="en-GB" sz="3600" b="1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Stakeholders</a:t>
            </a:r>
            <a:endParaRPr sz="3600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Citizens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Administrations , companies and institutions.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Through a app/web-applications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Expected Outcomes &amp; </a:t>
            </a:r>
            <a:r>
              <a:rPr lang="en-GB" sz="3600" b="1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Benefits</a:t>
            </a:r>
            <a:endParaRPr sz="3600" b="1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here:</a:t>
            </a:r>
            <a:endParaRPr sz="11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 cost and efficient workings.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 </a:t>
            </a:r>
            <a:r>
              <a:rPr lang="en-GB" sz="3600" b="1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Overview</a:t>
            </a:r>
            <a:endParaRPr sz="3600" b="1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here:</a:t>
            </a:r>
            <a:endParaRPr sz="1100" b="1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Reactjs,js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python,mysql,railways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hosting, </a:t>
            </a: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apify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for </a:t>
            </a:r>
            <a:r>
              <a:rPr lang="en-GB" sz="1100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datascraping</a:t>
            </a: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Kaggle for dataset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Big boom usage these days and prime version for development</a:t>
            </a: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br>
              <a:rPr lang="en-GB" sz="1100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PresentationFormat>On-screen Show (16:9)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Roboto Mono</vt:lpstr>
      <vt:lpstr>Helvetica Neue</vt:lpstr>
      <vt:lpstr>Arial</vt:lpstr>
      <vt:lpstr>Simple Light</vt:lpstr>
      <vt:lpstr> CodeRed</vt:lpstr>
      <vt:lpstr>Team &amp; Idea Overview</vt:lpstr>
      <vt:lpstr>PowerPoint Presentation</vt:lpstr>
      <vt:lpstr>Why This Problem Matters</vt:lpstr>
      <vt:lpstr>Current Situation / Existing Solutions</vt:lpstr>
      <vt:lpstr>Mutation Readiness</vt:lpstr>
      <vt:lpstr>Our Proposed Solution</vt:lpstr>
      <vt:lpstr>Solution Breakdown</vt:lpstr>
      <vt:lpstr>Users &amp; Stakeholders</vt:lpstr>
      <vt:lpstr>Expected Outcomes &amp; Benefits</vt:lpstr>
      <vt:lpstr>Technology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PARTH</dc:creator>
  <cp:lastModifiedBy>Parth Lonkar</cp:lastModifiedBy>
  <cp:revision>1</cp:revision>
  <dcterms:modified xsi:type="dcterms:W3CDTF">2026-01-31T09:32:38Z</dcterms:modified>
</cp:coreProperties>
</file>